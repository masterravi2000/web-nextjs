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6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0165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exdoc/assets/bg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claude/nexdoc/assets/icon_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58368"/>
            <a:ext cx="45720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43584" y="6583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NEXDOC</a:t>
            </a:r>
            <a:endParaRPr lang="en-US" sz="2600" dirty="0"/>
          </a:p>
        </p:txBody>
      </p:sp>
      <p:sp>
        <p:nvSpPr>
          <p:cNvPr id="5" name="Text 1"/>
          <p:cNvSpPr/>
          <p:nvPr/>
        </p:nvSpPr>
        <p:spPr>
          <a:xfrm>
            <a:off x="685800" y="1965960"/>
            <a:ext cx="8778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Your Documents.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Contextually &amp; 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Instantly.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685800" y="3520440"/>
            <a:ext cx="7040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6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Nexdoc is a high-performance offline document search engine that processes PDFs, images, spreadsheets and presentations locally, generates semantic embeddings, and delivers fast, context-aware search — with an optional AI mode for synthesized, cited answers.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713232" y="4846320"/>
            <a:ext cx="109728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4983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 ·  DESKTOP AI DOCUMENT INTELLIGENCE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exdoc/assets/icon_N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2377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Nexdoc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3423818" cy="1965960"/>
          </a:xfrm>
          <a:prstGeom prst="roundRect">
            <a:avLst>
              <a:gd name="adj" fmla="val 4186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9536" y="1911096"/>
            <a:ext cx="566928" cy="566928"/>
          </a:xfrm>
          <a:prstGeom prst="ellipse">
            <a:avLst/>
          </a:prstGeom>
          <a:solidFill>
            <a:srgbClr val="10201E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8" name="Image 1" descr="/home/claude/nexdoc/assets/ic_forma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" y="2052828"/>
            <a:ext cx="283464" cy="2834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112" y="2606040"/>
            <a:ext cx="29117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Support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96112" y="2990088"/>
            <a:ext cx="29117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PDF, images (OCR), PPTX, TXT and XLS/XLSX out of the box.</a:t>
            </a:r>
            <a:endParaRPr lang="en-US" sz="1080" dirty="0"/>
          </a:p>
        </p:txBody>
      </p:sp>
      <p:sp>
        <p:nvSpPr>
          <p:cNvPr id="11" name="Shape 7"/>
          <p:cNvSpPr/>
          <p:nvPr/>
        </p:nvSpPr>
        <p:spPr>
          <a:xfrm>
            <a:off x="4383938" y="1691640"/>
            <a:ext cx="3423818" cy="1965960"/>
          </a:xfrm>
          <a:prstGeom prst="roundRect">
            <a:avLst>
              <a:gd name="adj" fmla="val 4186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603394" y="1911096"/>
            <a:ext cx="566928" cy="566928"/>
          </a:xfrm>
          <a:prstGeom prst="ellipse">
            <a:avLst/>
          </a:prstGeom>
          <a:solidFill>
            <a:srgbClr val="10201E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13" name="Image 2" descr="/home/claude/nexdoc/assets/ic_per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126" y="2052828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39970" y="2606040"/>
            <a:ext cx="29117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Processing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639970" y="2990088"/>
            <a:ext cx="29117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Multi-threaded pipeline with a dynamic worker pool and real-time file watching.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8127797" y="1691640"/>
            <a:ext cx="3423818" cy="1965960"/>
          </a:xfrm>
          <a:prstGeom prst="roundRect">
            <a:avLst>
              <a:gd name="adj" fmla="val 4186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47253" y="1911096"/>
            <a:ext cx="566928" cy="566928"/>
          </a:xfrm>
          <a:prstGeom prst="ellipse">
            <a:avLst/>
          </a:prstGeom>
          <a:solidFill>
            <a:srgbClr val="10201E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18" name="Image 3" descr="/home/claude/nexdoc/assets/ic_int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8985" y="2052828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83829" y="2606040"/>
            <a:ext cx="29117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383829" y="2990088"/>
            <a:ext cx="29117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text, topics and metadata, then generates semantic embeddings for each chunk.</a:t>
            </a:r>
            <a:endParaRPr lang="en-US" sz="1080" dirty="0"/>
          </a:p>
        </p:txBody>
      </p:sp>
      <p:sp>
        <p:nvSpPr>
          <p:cNvPr id="21" name="Shape 15"/>
          <p:cNvSpPr/>
          <p:nvPr/>
        </p:nvSpPr>
        <p:spPr>
          <a:xfrm>
            <a:off x="640080" y="3931920"/>
            <a:ext cx="3423818" cy="1965960"/>
          </a:xfrm>
          <a:prstGeom prst="roundRect">
            <a:avLst>
              <a:gd name="adj" fmla="val 4186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59536" y="4151376"/>
            <a:ext cx="566928" cy="566928"/>
          </a:xfrm>
          <a:prstGeom prst="ellipse">
            <a:avLst/>
          </a:prstGeom>
          <a:solidFill>
            <a:srgbClr val="10201E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23" name="Image 4" descr="/home/claude/nexdoc/assets/ic_se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268" y="4293108"/>
            <a:ext cx="283464" cy="2834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96112" y="4846320"/>
            <a:ext cx="29117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Search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896112" y="5230368"/>
            <a:ext cx="29117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search with hybrid filtering and relevance ranking on every query.</a:t>
            </a:r>
            <a:endParaRPr lang="en-US" sz="1080" dirty="0"/>
          </a:p>
        </p:txBody>
      </p:sp>
      <p:sp>
        <p:nvSpPr>
          <p:cNvPr id="26" name="Shape 19"/>
          <p:cNvSpPr/>
          <p:nvPr/>
        </p:nvSpPr>
        <p:spPr>
          <a:xfrm>
            <a:off x="4383938" y="3931920"/>
            <a:ext cx="3423818" cy="1965960"/>
          </a:xfrm>
          <a:prstGeom prst="roundRect">
            <a:avLst>
              <a:gd name="adj" fmla="val 4186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603394" y="4151376"/>
            <a:ext cx="566928" cy="566928"/>
          </a:xfrm>
          <a:prstGeom prst="ellipse">
            <a:avLst/>
          </a:prstGeom>
          <a:solidFill>
            <a:srgbClr val="10201E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28" name="Image 5" descr="/home/claude/nexdoc/assets/ic_stor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5126" y="4293108"/>
            <a:ext cx="283464" cy="28346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639970" y="4846320"/>
            <a:ext cx="29117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Storage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4639970" y="5230368"/>
            <a:ext cx="29117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LanceDB for vector search, SQLite for app data — fully persistent and local.</a:t>
            </a:r>
            <a:endParaRPr lang="en-US" sz="1080" dirty="0"/>
          </a:p>
        </p:txBody>
      </p:sp>
      <p:sp>
        <p:nvSpPr>
          <p:cNvPr id="31" name="Shape 23"/>
          <p:cNvSpPr/>
          <p:nvPr/>
        </p:nvSpPr>
        <p:spPr>
          <a:xfrm>
            <a:off x="8127797" y="3931920"/>
            <a:ext cx="3423818" cy="1965960"/>
          </a:xfrm>
          <a:prstGeom prst="roundRect">
            <a:avLst>
              <a:gd name="adj" fmla="val 4186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8347253" y="4151376"/>
            <a:ext cx="566928" cy="566928"/>
          </a:xfrm>
          <a:prstGeom prst="ellipse">
            <a:avLst/>
          </a:prstGeom>
          <a:solidFill>
            <a:srgbClr val="10201E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33" name="Image 6" descr="/home/claude/nexdoc/assets/ic_a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88985" y="4293108"/>
            <a:ext cx="283464" cy="28346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383829" y="4846320"/>
            <a:ext cx="29117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AI Mode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8383829" y="5230368"/>
            <a:ext cx="29117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synthesized answers with cited sources; offline mode works without it.</a:t>
            </a:r>
            <a:endParaRPr lang="en-US" sz="1080" dirty="0"/>
          </a:p>
        </p:txBody>
      </p:sp>
      <p:sp>
        <p:nvSpPr>
          <p:cNvPr id="36" name="Text 27"/>
          <p:cNvSpPr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exdoc/assets/icon_N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2377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Nexdoc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Nexdoc For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295748" cy="1965960"/>
          </a:xfrm>
          <a:prstGeom prst="roundRect">
            <a:avLst>
              <a:gd name="adj" fmla="val 4186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37260" y="2286000"/>
            <a:ext cx="777240" cy="777240"/>
          </a:xfrm>
          <a:prstGeom prst="ellipse">
            <a:avLst/>
          </a:prstGeom>
          <a:solidFill>
            <a:srgbClr val="10201E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8" name="Image 1" descr="/home/claude/nexdoc/assets/ic_leg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570" y="2480310"/>
            <a:ext cx="388620" cy="3886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74520" y="2057400"/>
            <a:ext cx="38327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&amp; Legal Firms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874520" y="2514600"/>
            <a:ext cx="38327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an offline document assistant to search contracts, filings and case files without sending sensitive data anywhere.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55868" y="1691640"/>
            <a:ext cx="5295748" cy="1965960"/>
          </a:xfrm>
          <a:prstGeom prst="roundRect">
            <a:avLst>
              <a:gd name="adj" fmla="val 4186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553048" y="2286000"/>
            <a:ext cx="777240" cy="777240"/>
          </a:xfrm>
          <a:prstGeom prst="ellipse">
            <a:avLst/>
          </a:prstGeom>
          <a:solidFill>
            <a:srgbClr val="10201E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13" name="Image 2" descr="/home/claude/nexdoc/assets/ic_enterpri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358" y="2480310"/>
            <a:ext cx="388620" cy="3886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90308" y="2057400"/>
            <a:ext cx="38327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Privacy-Conscious Enterprises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490308" y="2514600"/>
            <a:ext cx="38327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handling confidential documents that need semantic search without a cloud dependency.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3931920"/>
            <a:ext cx="5295748" cy="1965960"/>
          </a:xfrm>
          <a:prstGeom prst="roundRect">
            <a:avLst>
              <a:gd name="adj" fmla="val 4186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37260" y="4526280"/>
            <a:ext cx="777240" cy="777240"/>
          </a:xfrm>
          <a:prstGeom prst="ellipse">
            <a:avLst/>
          </a:prstGeom>
          <a:solidFill>
            <a:srgbClr val="10201E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18" name="Image 3" descr="/home/claude/nexdoc/assets/ic_re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1570" y="4720590"/>
            <a:ext cx="388620" cy="3886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74520" y="4297680"/>
            <a:ext cx="38327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Knowledge Teams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874520" y="4754880"/>
            <a:ext cx="38327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managing large, growing document libraries who need fast, context-aware retrieval across formats.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255868" y="3931920"/>
            <a:ext cx="5295748" cy="1965960"/>
          </a:xfrm>
          <a:prstGeom prst="roundRect">
            <a:avLst>
              <a:gd name="adj" fmla="val 4186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553048" y="4526280"/>
            <a:ext cx="777240" cy="777240"/>
          </a:xfrm>
          <a:prstGeom prst="ellipse">
            <a:avLst/>
          </a:prstGeom>
          <a:solidFill>
            <a:srgbClr val="10201E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23" name="Image 4" descr="/home/claude/nexdoc/assets/ic_individu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7358" y="4720590"/>
            <a:ext cx="388620" cy="3886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90308" y="4297680"/>
            <a:ext cx="38327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&amp; Power Users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490308" y="4754880"/>
            <a:ext cx="38327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who want a local semantic search layer over their own PDFs, notes and technical documents.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exdoc/assets/icon_N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2377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Nexdoc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Walkthrough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417320"/>
            <a:ext cx="5318608" cy="2514600"/>
          </a:xfrm>
          <a:prstGeom prst="roundRect">
            <a:avLst>
              <a:gd name="adj" fmla="val 2909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7" name="Image 1" descr="/home/claude/nexdoc/assets/shot_hom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8096" y="1545336"/>
            <a:ext cx="5062576" cy="1691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8096" y="3291840"/>
            <a:ext cx="5062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Home Dashboard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68096" y="3584448"/>
            <a:ext cx="506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overview of indexed files, weekly searches and recent queries.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233008" y="1417320"/>
            <a:ext cx="5318608" cy="2514600"/>
          </a:xfrm>
          <a:prstGeom prst="roundRect">
            <a:avLst>
              <a:gd name="adj" fmla="val 2909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11" name="Image 2" descr="/home/claude/nexdoc/assets/shot_uploa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61024" y="1545336"/>
            <a:ext cx="5062576" cy="1691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61024" y="3291840"/>
            <a:ext cx="5062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Upload Documents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361024" y="3584448"/>
            <a:ext cx="506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PDFs, Excel, PowerPoint, text or images — up to 25 files at once.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40080" y="4160520"/>
            <a:ext cx="5318608" cy="2514600"/>
          </a:xfrm>
          <a:prstGeom prst="roundRect">
            <a:avLst>
              <a:gd name="adj" fmla="val 2909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15" name="Image 3" descr="/home/claude/nexdoc/assets/shot_search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8096" y="4288536"/>
            <a:ext cx="5062576" cy="16916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68096" y="6035040"/>
            <a:ext cx="5062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Semantic Search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768096" y="6327648"/>
            <a:ext cx="506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is matched against indexed chunks with exact page references.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233008" y="4160520"/>
            <a:ext cx="5318608" cy="2514600"/>
          </a:xfrm>
          <a:prstGeom prst="roundRect">
            <a:avLst>
              <a:gd name="adj" fmla="val 2909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19" name="Image 4" descr="/home/claude/nexdoc/assets/shot_ai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61024" y="4288536"/>
            <a:ext cx="5062576" cy="16916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361024" y="6035040"/>
            <a:ext cx="5062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AI Search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361024" y="6327648"/>
            <a:ext cx="506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plain language and get synthesized answers with cited sources.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exdoc/assets/icon_N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2377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Nexdoc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2522144" cy="1874520"/>
          </a:xfrm>
          <a:prstGeom prst="roundRect">
            <a:avLst>
              <a:gd name="adj" fmla="val 4390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120" y="1819656"/>
            <a:ext cx="512064" cy="512064"/>
          </a:xfrm>
          <a:prstGeom prst="ellipse">
            <a:avLst/>
          </a:prstGeom>
          <a:solidFill>
            <a:srgbClr val="10201E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8" name="Image 1" descr="/home/claude/nexdoc/assets/ic_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3136" y="194767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423160"/>
            <a:ext cx="233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68096" y="2880360"/>
            <a:ext cx="2266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8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Async-ready REST layer with Pydantic validation and Uvicorn serving.</a:t>
            </a:r>
            <a:endParaRPr lang="en-US" sz="880" dirty="0"/>
          </a:p>
        </p:txBody>
      </p:sp>
      <p:sp>
        <p:nvSpPr>
          <p:cNvPr id="11" name="Shape 7"/>
          <p:cNvSpPr/>
          <p:nvPr/>
        </p:nvSpPr>
        <p:spPr>
          <a:xfrm>
            <a:off x="3436544" y="1600200"/>
            <a:ext cx="2522144" cy="1874520"/>
          </a:xfrm>
          <a:prstGeom prst="roundRect">
            <a:avLst>
              <a:gd name="adj" fmla="val 4390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441584" y="1819656"/>
            <a:ext cx="512064" cy="512064"/>
          </a:xfrm>
          <a:prstGeom prst="ellipse">
            <a:avLst/>
          </a:prstGeom>
          <a:solidFill>
            <a:srgbClr val="10201E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13" name="Image 2" descr="/home/claude/nexdoc/assets/ic_pyto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9600" y="194767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27984" y="2423160"/>
            <a:ext cx="233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 + PyTorch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3564560" y="2880360"/>
            <a:ext cx="2266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8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embedding generation (all-MiniLM-L12-v2) — no external API calls.</a:t>
            </a:r>
            <a:endParaRPr lang="en-US" sz="880" dirty="0"/>
          </a:p>
        </p:txBody>
      </p:sp>
      <p:sp>
        <p:nvSpPr>
          <p:cNvPr id="16" name="Shape 11"/>
          <p:cNvSpPr/>
          <p:nvPr/>
        </p:nvSpPr>
        <p:spPr>
          <a:xfrm>
            <a:off x="6233008" y="1600200"/>
            <a:ext cx="2522144" cy="1874520"/>
          </a:xfrm>
          <a:prstGeom prst="roundRect">
            <a:avLst>
              <a:gd name="adj" fmla="val 4390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238047" y="1819656"/>
            <a:ext cx="512064" cy="512064"/>
          </a:xfrm>
          <a:prstGeom prst="ellipse">
            <a:avLst/>
          </a:prstGeom>
          <a:solidFill>
            <a:srgbClr val="10201E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18" name="Image 3" descr="/home/claude/nexdoc/assets/ic_lanced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63" y="1947672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24448" y="2423160"/>
            <a:ext cx="233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LanceDB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361024" y="2880360"/>
            <a:ext cx="2266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8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vector database for fast semantic similarity search.</a:t>
            </a:r>
            <a:endParaRPr lang="en-US" sz="880" dirty="0"/>
          </a:p>
        </p:txBody>
      </p:sp>
      <p:sp>
        <p:nvSpPr>
          <p:cNvPr id="21" name="Shape 15"/>
          <p:cNvSpPr/>
          <p:nvPr/>
        </p:nvSpPr>
        <p:spPr>
          <a:xfrm>
            <a:off x="9029471" y="1600200"/>
            <a:ext cx="2522144" cy="1874520"/>
          </a:xfrm>
          <a:prstGeom prst="roundRect">
            <a:avLst>
              <a:gd name="adj" fmla="val 4390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0034511" y="1819656"/>
            <a:ext cx="512064" cy="512064"/>
          </a:xfrm>
          <a:prstGeom prst="ellipse">
            <a:avLst/>
          </a:prstGeom>
          <a:solidFill>
            <a:srgbClr val="10201E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23" name="Image 4" descr="/home/claude/nexdoc/assets/ic_sql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2527" y="194767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20911" y="2423160"/>
            <a:ext cx="233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9157487" y="2880360"/>
            <a:ext cx="2266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8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local storage for processing status, stats &amp; recent searches.</a:t>
            </a:r>
            <a:endParaRPr lang="en-US" sz="880" dirty="0"/>
          </a:p>
        </p:txBody>
      </p:sp>
      <p:sp>
        <p:nvSpPr>
          <p:cNvPr id="26" name="Shape 19"/>
          <p:cNvSpPr/>
          <p:nvPr/>
        </p:nvSpPr>
        <p:spPr>
          <a:xfrm>
            <a:off x="640080" y="3730752"/>
            <a:ext cx="3454298" cy="1874520"/>
          </a:xfrm>
          <a:prstGeom prst="roundRect">
            <a:avLst>
              <a:gd name="adj" fmla="val 4390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2111197" y="3950208"/>
            <a:ext cx="512064" cy="512064"/>
          </a:xfrm>
          <a:prstGeom prst="ellipse">
            <a:avLst/>
          </a:prstGeom>
          <a:solidFill>
            <a:srgbClr val="10201E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28" name="Image 5" descr="/home/claude/nexdoc/assets/ic_watchdo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9213" y="4078224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68096" y="4553712"/>
            <a:ext cx="31982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822960" y="4937760"/>
            <a:ext cx="30885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file-system monitoring to auto-detect and queue new documents.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4368698" y="3730752"/>
            <a:ext cx="3454298" cy="1874520"/>
          </a:xfrm>
          <a:prstGeom prst="roundRect">
            <a:avLst>
              <a:gd name="adj" fmla="val 4390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5839816" y="3950208"/>
            <a:ext cx="512064" cy="512064"/>
          </a:xfrm>
          <a:prstGeom prst="ellipse">
            <a:avLst/>
          </a:prstGeom>
          <a:solidFill>
            <a:srgbClr val="10201E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33" name="Image 6" descr="/home/claude/nexdoc/assets/ic_gemin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7832" y="4078224"/>
            <a:ext cx="256032" cy="25603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496714" y="4553712"/>
            <a:ext cx="31982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4551578" y="4937760"/>
            <a:ext cx="30885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AI mode for synthesized, cited answers — offline mode needs none of it.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8097317" y="3730752"/>
            <a:ext cx="3454298" cy="1874520"/>
          </a:xfrm>
          <a:prstGeom prst="roundRect">
            <a:avLst>
              <a:gd name="adj" fmla="val 4390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9568434" y="3950208"/>
            <a:ext cx="512064" cy="512064"/>
          </a:xfrm>
          <a:prstGeom prst="ellipse">
            <a:avLst/>
          </a:prstGeom>
          <a:solidFill>
            <a:srgbClr val="10201E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38" name="Image 7" descr="/home/claude/nexdoc/assets/ic_electr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96450" y="4078224"/>
            <a:ext cx="256032" cy="25603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8225333" y="4553712"/>
            <a:ext cx="31982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</a:t>
            </a:r>
            <a:endParaRPr lang="en-US" sz="1300" dirty="0"/>
          </a:p>
        </p:txBody>
      </p:sp>
      <p:sp>
        <p:nvSpPr>
          <p:cNvPr id="40" name="Text 30"/>
          <p:cNvSpPr/>
          <p:nvPr/>
        </p:nvSpPr>
        <p:spPr>
          <a:xfrm>
            <a:off x="8280197" y="4937760"/>
            <a:ext cx="30885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the desktop UI around the local FastAPI backend for a native app feel.</a:t>
            </a:r>
            <a:endParaRPr lang="en-US" sz="1000" dirty="0"/>
          </a:p>
        </p:txBody>
      </p:sp>
      <p:sp>
        <p:nvSpPr>
          <p:cNvPr id="41" name="Text 31"/>
          <p:cNvSpPr/>
          <p:nvPr/>
        </p:nvSpPr>
        <p:spPr>
          <a:xfrm>
            <a:off x="640080" y="587959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  ·  PyMuPDF · pytesseract · python-pptx · pandas · openpyxl     |     PACKAGING  ·  PyInstaller</a:t>
            </a:r>
            <a:endParaRPr lang="en-US" sz="1050" dirty="0"/>
          </a:p>
        </p:txBody>
      </p:sp>
      <p:sp>
        <p:nvSpPr>
          <p:cNvPr id="42" name="Text 32"/>
          <p:cNvSpPr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exdoc/assets/icon_N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2377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Nexdoc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Data Flow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847088"/>
            <a:ext cx="3246120" cy="470916"/>
          </a:xfrm>
          <a:prstGeom prst="roundRect">
            <a:avLst>
              <a:gd name="adj" fmla="val 11650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1847088"/>
            <a:ext cx="3026664" cy="470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/ File Watcher (Watchdog)</a:t>
            </a:r>
            <a:endParaRPr lang="en-US" sz="980" dirty="0"/>
          </a:p>
        </p:txBody>
      </p:sp>
      <p:pic>
        <p:nvPicPr>
          <p:cNvPr id="9" name="Image 1" descr="/home/claude/nexdoc/assets/ic_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9132" y="2322576"/>
            <a:ext cx="128016" cy="7315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" y="2400300"/>
            <a:ext cx="3246120" cy="470916"/>
          </a:xfrm>
          <a:prstGeom prst="roundRect">
            <a:avLst>
              <a:gd name="adj" fmla="val 11650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49808" y="2400300"/>
            <a:ext cx="3026664" cy="470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Queue</a:t>
            </a:r>
            <a:endParaRPr lang="en-US" sz="980" dirty="0"/>
          </a:p>
        </p:txBody>
      </p:sp>
      <p:pic>
        <p:nvPicPr>
          <p:cNvPr id="12" name="Image 2" descr="/home/claude/nexdoc/assets/ic_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9132" y="2875788"/>
            <a:ext cx="128016" cy="7315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40080" y="2953512"/>
            <a:ext cx="3246120" cy="470916"/>
          </a:xfrm>
          <a:prstGeom prst="roundRect">
            <a:avLst>
              <a:gd name="adj" fmla="val 11650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49808" y="2953512"/>
            <a:ext cx="3026664" cy="470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Worker Pool (CPU-aware)</a:t>
            </a:r>
            <a:endParaRPr lang="en-US" sz="980" dirty="0"/>
          </a:p>
        </p:txBody>
      </p:sp>
      <p:pic>
        <p:nvPicPr>
          <p:cNvPr id="15" name="Image 3" descr="/home/claude/nexdoc/assets/ic_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9132" y="3429000"/>
            <a:ext cx="128016" cy="7315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0080" y="3506724"/>
            <a:ext cx="3246120" cy="470916"/>
          </a:xfrm>
          <a:prstGeom prst="roundRect">
            <a:avLst>
              <a:gd name="adj" fmla="val 11650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749808" y="3506724"/>
            <a:ext cx="3026664" cy="470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Metadata Extraction</a:t>
            </a:r>
            <a:endParaRPr lang="en-US" sz="980" dirty="0"/>
          </a:p>
        </p:txBody>
      </p:sp>
      <p:pic>
        <p:nvPicPr>
          <p:cNvPr id="18" name="Image 4" descr="/home/claude/nexdoc/assets/ic_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9132" y="3982212"/>
            <a:ext cx="128016" cy="73152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40080" y="4059936"/>
            <a:ext cx="3246120" cy="470916"/>
          </a:xfrm>
          <a:prstGeom prst="roundRect">
            <a:avLst>
              <a:gd name="adj" fmla="val 11650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749808" y="4059936"/>
            <a:ext cx="3026664" cy="470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Normalization</a:t>
            </a:r>
            <a:endParaRPr lang="en-US" sz="980" dirty="0"/>
          </a:p>
        </p:txBody>
      </p:sp>
      <p:pic>
        <p:nvPicPr>
          <p:cNvPr id="21" name="Image 5" descr="/home/claude/nexdoc/assets/ic_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9132" y="4535424"/>
            <a:ext cx="128016" cy="7315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40080" y="4613148"/>
            <a:ext cx="3246120" cy="470916"/>
          </a:xfrm>
          <a:prstGeom prst="roundRect">
            <a:avLst>
              <a:gd name="adj" fmla="val 11650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749808" y="4613148"/>
            <a:ext cx="3026664" cy="470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980" dirty="0"/>
          </a:p>
        </p:txBody>
      </p:sp>
      <p:pic>
        <p:nvPicPr>
          <p:cNvPr id="24" name="Image 6" descr="/home/claude/nexdoc/assets/ic_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9132" y="5088636"/>
            <a:ext cx="128016" cy="73152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640080" y="5166360"/>
            <a:ext cx="3246120" cy="470916"/>
          </a:xfrm>
          <a:prstGeom prst="roundRect">
            <a:avLst>
              <a:gd name="adj" fmla="val 11650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749808" y="5166360"/>
            <a:ext cx="3026664" cy="470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Generation</a:t>
            </a:r>
            <a:endParaRPr lang="en-US" sz="980" dirty="0"/>
          </a:p>
        </p:txBody>
      </p:sp>
      <p:pic>
        <p:nvPicPr>
          <p:cNvPr id="27" name="Image 7" descr="/home/claude/nexdoc/assets/ic_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9132" y="5641848"/>
            <a:ext cx="128016" cy="73152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640080" y="5719572"/>
            <a:ext cx="3246120" cy="470916"/>
          </a:xfrm>
          <a:prstGeom prst="roundRect">
            <a:avLst>
              <a:gd name="adj" fmla="val 11650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749808" y="5719572"/>
            <a:ext cx="3026664" cy="470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LanceDB Storage</a:t>
            </a:r>
            <a:endParaRPr lang="en-US" sz="980" dirty="0"/>
          </a:p>
        </p:txBody>
      </p:sp>
      <p:sp>
        <p:nvSpPr>
          <p:cNvPr id="30" name="Text 20"/>
          <p:cNvSpPr/>
          <p:nvPr/>
        </p:nvSpPr>
        <p:spPr>
          <a:xfrm>
            <a:off x="4343400" y="148132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PIPELINE</a:t>
            </a:r>
            <a:endParaRPr lang="en-US" sz="1250" dirty="0"/>
          </a:p>
        </p:txBody>
      </p:sp>
      <p:sp>
        <p:nvSpPr>
          <p:cNvPr id="31" name="Shape 21"/>
          <p:cNvSpPr/>
          <p:nvPr/>
        </p:nvSpPr>
        <p:spPr>
          <a:xfrm>
            <a:off x="4343400" y="1847088"/>
            <a:ext cx="3246120" cy="655320"/>
          </a:xfrm>
          <a:prstGeom prst="roundRect">
            <a:avLst>
              <a:gd name="adj" fmla="val 8372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32" name="Text 22"/>
          <p:cNvSpPr/>
          <p:nvPr/>
        </p:nvSpPr>
        <p:spPr>
          <a:xfrm>
            <a:off x="4453128" y="1847088"/>
            <a:ext cx="3026664" cy="655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980" dirty="0"/>
          </a:p>
        </p:txBody>
      </p:sp>
      <p:pic>
        <p:nvPicPr>
          <p:cNvPr id="33" name="Image 8" descr="/home/claude/nexdoc/assets/ic_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452" y="2506980"/>
            <a:ext cx="128016" cy="73152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4343400" y="2584704"/>
            <a:ext cx="3246120" cy="655320"/>
          </a:xfrm>
          <a:prstGeom prst="roundRect">
            <a:avLst>
              <a:gd name="adj" fmla="val 8372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35" name="Text 24"/>
          <p:cNvSpPr/>
          <p:nvPr/>
        </p:nvSpPr>
        <p:spPr>
          <a:xfrm>
            <a:off x="4453128" y="2584704"/>
            <a:ext cx="3026664" cy="655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</a:t>
            </a:r>
            <a:endParaRPr lang="en-US" sz="980" dirty="0"/>
          </a:p>
        </p:txBody>
      </p:sp>
      <p:pic>
        <p:nvPicPr>
          <p:cNvPr id="36" name="Image 9" descr="/home/claude/nexdoc/assets/ic_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452" y="3244596"/>
            <a:ext cx="128016" cy="73152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4343400" y="3322320"/>
            <a:ext cx="3246120" cy="655320"/>
          </a:xfrm>
          <a:prstGeom prst="roundRect">
            <a:avLst>
              <a:gd name="adj" fmla="val 8372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38" name="Text 26"/>
          <p:cNvSpPr/>
          <p:nvPr/>
        </p:nvSpPr>
        <p:spPr>
          <a:xfrm>
            <a:off x="4453128" y="3322320"/>
            <a:ext cx="3026664" cy="655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Retrieval (Vector Search)</a:t>
            </a:r>
            <a:endParaRPr lang="en-US" sz="980" dirty="0"/>
          </a:p>
        </p:txBody>
      </p:sp>
      <p:pic>
        <p:nvPicPr>
          <p:cNvPr id="39" name="Image 10" descr="/home/claude/nexdoc/assets/ic_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452" y="3982212"/>
            <a:ext cx="128016" cy="73152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4343400" y="4059936"/>
            <a:ext cx="3246120" cy="655320"/>
          </a:xfrm>
          <a:prstGeom prst="roundRect">
            <a:avLst>
              <a:gd name="adj" fmla="val 8372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41" name="Text 28"/>
          <p:cNvSpPr/>
          <p:nvPr/>
        </p:nvSpPr>
        <p:spPr>
          <a:xfrm>
            <a:off x="4453128" y="4059936"/>
            <a:ext cx="3026664" cy="655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Filtering</a:t>
            </a:r>
            <a:endParaRPr lang="en-US" sz="980" dirty="0"/>
          </a:p>
        </p:txBody>
      </p:sp>
      <p:pic>
        <p:nvPicPr>
          <p:cNvPr id="42" name="Image 11" descr="/home/claude/nexdoc/assets/ic_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452" y="4719828"/>
            <a:ext cx="128016" cy="73152"/>
          </a:xfrm>
          <a:prstGeom prst="rect">
            <a:avLst/>
          </a:prstGeom>
        </p:spPr>
      </p:pic>
      <p:sp>
        <p:nvSpPr>
          <p:cNvPr id="43" name="Shape 29"/>
          <p:cNvSpPr/>
          <p:nvPr/>
        </p:nvSpPr>
        <p:spPr>
          <a:xfrm>
            <a:off x="4343400" y="4797552"/>
            <a:ext cx="3246120" cy="655320"/>
          </a:xfrm>
          <a:prstGeom prst="roundRect">
            <a:avLst>
              <a:gd name="adj" fmla="val 8372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44" name="Text 30"/>
          <p:cNvSpPr/>
          <p:nvPr/>
        </p:nvSpPr>
        <p:spPr>
          <a:xfrm>
            <a:off x="4453128" y="4797552"/>
            <a:ext cx="3026664" cy="655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Ranking</a:t>
            </a:r>
            <a:endParaRPr lang="en-US" sz="980" dirty="0"/>
          </a:p>
        </p:txBody>
      </p:sp>
      <p:pic>
        <p:nvPicPr>
          <p:cNvPr id="45" name="Image 12" descr="/home/claude/nexdoc/assets/ic_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452" y="5457444"/>
            <a:ext cx="128016" cy="73152"/>
          </a:xfrm>
          <a:prstGeom prst="rect">
            <a:avLst/>
          </a:prstGeom>
        </p:spPr>
      </p:pic>
      <p:sp>
        <p:nvSpPr>
          <p:cNvPr id="46" name="Shape 31"/>
          <p:cNvSpPr/>
          <p:nvPr/>
        </p:nvSpPr>
        <p:spPr>
          <a:xfrm>
            <a:off x="4343400" y="5535168"/>
            <a:ext cx="3246120" cy="655320"/>
          </a:xfrm>
          <a:prstGeom prst="roundRect">
            <a:avLst>
              <a:gd name="adj" fmla="val 8372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47" name="Text 32"/>
          <p:cNvSpPr/>
          <p:nvPr/>
        </p:nvSpPr>
        <p:spPr>
          <a:xfrm>
            <a:off x="4453128" y="5535168"/>
            <a:ext cx="3026664" cy="655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Response  /  AI Response</a:t>
            </a:r>
            <a:endParaRPr lang="en-US" sz="980" dirty="0"/>
          </a:p>
        </p:txBody>
      </p:sp>
      <p:sp>
        <p:nvSpPr>
          <p:cNvPr id="48" name="Shape 33"/>
          <p:cNvSpPr/>
          <p:nvPr/>
        </p:nvSpPr>
        <p:spPr>
          <a:xfrm>
            <a:off x="8549640" y="1481328"/>
            <a:ext cx="3017520" cy="5093208"/>
          </a:xfrm>
          <a:prstGeom prst="roundRect">
            <a:avLst>
              <a:gd name="adj" fmla="val 2727"/>
            </a:avLst>
          </a:prstGeom>
          <a:solidFill>
            <a:srgbClr val="0C1615"/>
          </a:solidFill>
          <a:ln w="12700">
            <a:solidFill>
              <a:srgbClr val="1B3330"/>
            </a:solidFill>
            <a:prstDash val="solid"/>
          </a:ln>
        </p:spPr>
      </p:sp>
      <p:pic>
        <p:nvPicPr>
          <p:cNvPr id="49" name="Image 13" descr="/home/claude/nexdoc/assets/ic_privac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1691640"/>
            <a:ext cx="365760" cy="365760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8778240" y="21214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Backend</a:t>
            </a:r>
            <a:endParaRPr lang="en-US" sz="1300" dirty="0"/>
          </a:p>
        </p:txBody>
      </p:sp>
      <p:sp>
        <p:nvSpPr>
          <p:cNvPr id="51" name="Text 35"/>
          <p:cNvSpPr/>
          <p:nvPr/>
        </p:nvSpPr>
        <p:spPr>
          <a:xfrm>
            <a:off x="8778240" y="2450592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→ Services → Features (Search, Chunking, Embedding, Worker Mgmt) → Repositories → LanceDB / SQLite / Filesystem.</a:t>
            </a:r>
            <a:endParaRPr lang="en-US" sz="1000" dirty="0"/>
          </a:p>
        </p:txBody>
      </p:sp>
      <p:sp>
        <p:nvSpPr>
          <p:cNvPr id="52" name="Shape 36"/>
          <p:cNvSpPr/>
          <p:nvPr/>
        </p:nvSpPr>
        <p:spPr>
          <a:xfrm>
            <a:off x="8778240" y="3456432"/>
            <a:ext cx="2560320" cy="0"/>
          </a:xfrm>
          <a:prstGeom prst="line">
            <a:avLst/>
          </a:prstGeom>
          <a:noFill/>
          <a:ln w="12700">
            <a:solidFill>
              <a:srgbClr val="1B3330"/>
            </a:solidFill>
            <a:prstDash val="solid"/>
          </a:ln>
        </p:spPr>
      </p:sp>
      <p:sp>
        <p:nvSpPr>
          <p:cNvPr id="53" name="Text 37"/>
          <p:cNvSpPr/>
          <p:nvPr/>
        </p:nvSpPr>
        <p:spPr>
          <a:xfrm>
            <a:off x="8778240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Packaging</a:t>
            </a:r>
            <a:endParaRPr lang="en-US" sz="1300" dirty="0"/>
          </a:p>
        </p:txBody>
      </p:sp>
      <p:sp>
        <p:nvSpPr>
          <p:cNvPr id="54" name="Text 38"/>
          <p:cNvSpPr/>
          <p:nvPr/>
        </p:nvSpPr>
        <p:spPr>
          <a:xfrm>
            <a:off x="8778240" y="3913632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Frontend → Local FastAPI Backend (PyInstaller) → Local Processing → Local Storage. No server deployment required.</a:t>
            </a:r>
            <a:endParaRPr lang="en-US" sz="1000" dirty="0"/>
          </a:p>
        </p:txBody>
      </p:sp>
      <p:sp>
        <p:nvSpPr>
          <p:cNvPr id="55" name="Text 39"/>
          <p:cNvSpPr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exdoc/assets/icon_N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2377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Nexdoc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HIGHLIGHTS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Engineered Areas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58368" y="1627632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896112" y="15453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WORKER POOL  —  ADAPTIVE CONCURRENCY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1956816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956816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CPU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050" dirty="0"/>
          </a:p>
        </p:txBody>
      </p:sp>
      <p:pic>
        <p:nvPicPr>
          <p:cNvPr id="10" name="Image 1" descr="/home/claude/nexdoc/assets/ic_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28" y="2409444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07208" y="1956816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898648" y="1956816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Capacity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1050" dirty="0"/>
          </a:p>
        </p:txBody>
      </p:sp>
      <p:pic>
        <p:nvPicPr>
          <p:cNvPr id="13" name="Image 2" descr="/home/claude/nexdoc/assets/ic_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409444"/>
            <a:ext cx="164592" cy="16459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974336" y="1956816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065776" y="1956816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Worker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</a:t>
            </a:r>
            <a:endParaRPr lang="en-US" sz="1050" dirty="0"/>
          </a:p>
        </p:txBody>
      </p:sp>
      <p:pic>
        <p:nvPicPr>
          <p:cNvPr id="16" name="Image 3" descr="/home/claude/nexdoc/assets/ic_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84" y="2409444"/>
            <a:ext cx="164592" cy="16459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141464" y="1956816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7232904" y="1956816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File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640080" y="3145536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fixed thread count, Nexdoc calculates worker capacity from the machine's available CPU cores at runtime — the same backend adapts its processing concurrency across different desktop systems automatically.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3803904"/>
            <a:ext cx="10911535" cy="0"/>
          </a:xfrm>
          <a:prstGeom prst="line">
            <a:avLst/>
          </a:prstGeom>
          <a:noFill/>
          <a:ln w="12700">
            <a:solidFill>
              <a:srgbClr val="23272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58368" y="3986784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2" name="Text 16"/>
          <p:cNvSpPr/>
          <p:nvPr/>
        </p:nvSpPr>
        <p:spPr>
          <a:xfrm>
            <a:off x="896112" y="39044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ARCHITECTURE  —  PRIVACY BY DESIGN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40080" y="4315968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0C1615"/>
          </a:solidFill>
          <a:ln w="12700">
            <a:solidFill>
              <a:srgbClr val="1B333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94944" y="4315968"/>
            <a:ext cx="1673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980" dirty="0"/>
          </a:p>
        </p:txBody>
      </p:sp>
      <p:pic>
        <p:nvPicPr>
          <p:cNvPr id="25" name="Image 4" descr="/home/claude/nexdoc/assets/ic_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4" y="4709160"/>
            <a:ext cx="137160" cy="13716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2569464" y="4315968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0C1615"/>
          </a:solidFill>
          <a:ln w="12700">
            <a:solidFill>
              <a:srgbClr val="1B3330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2624328" y="4315968"/>
            <a:ext cx="1673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</a:t>
            </a:r>
            <a:endParaRPr lang="en-US" sz="980" dirty="0"/>
          </a:p>
        </p:txBody>
      </p:sp>
      <p:pic>
        <p:nvPicPr>
          <p:cNvPr id="28" name="Image 5" descr="/home/claude/nexdoc/assets/ic_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4709160"/>
            <a:ext cx="137160" cy="13716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4498848" y="4315968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0C1615"/>
          </a:solidFill>
          <a:ln w="12700">
            <a:solidFill>
              <a:srgbClr val="1B3330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553712" y="4315968"/>
            <a:ext cx="1673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80" dirty="0"/>
          </a:p>
        </p:txBody>
      </p:sp>
      <p:pic>
        <p:nvPicPr>
          <p:cNvPr id="31" name="Image 6" descr="/home/claude/nexdoc/assets/ic_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4709160"/>
            <a:ext cx="137160" cy="13716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428232" y="4315968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0C1615"/>
          </a:solidFill>
          <a:ln w="12700">
            <a:solidFill>
              <a:srgbClr val="1B3330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6483096" y="4315968"/>
            <a:ext cx="1673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80" dirty="0"/>
          </a:p>
        </p:txBody>
      </p:sp>
      <p:pic>
        <p:nvPicPr>
          <p:cNvPr id="34" name="Image 7" descr="/home/claude/nexdoc/assets/ic_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4709160"/>
            <a:ext cx="137160" cy="137160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8357616" y="4315968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0C1615"/>
          </a:solidFill>
          <a:ln w="12700">
            <a:solidFill>
              <a:srgbClr val="1B3330"/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8412480" y="4315968"/>
            <a:ext cx="1673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LanceDB</a:t>
            </a:r>
            <a:endParaRPr lang="en-US" sz="980" dirty="0"/>
          </a:p>
        </p:txBody>
      </p:sp>
      <p:sp>
        <p:nvSpPr>
          <p:cNvPr id="37" name="Text 27"/>
          <p:cNvSpPr/>
          <p:nvPr/>
        </p:nvSpPr>
        <p:spPr>
          <a:xfrm>
            <a:off x="640080" y="536752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document processing, embedding generation and search all run locally — sensitive files never leave the machine. AI Mode is the only optional, internet-dependent capability, used solely for synthesized answers via Gemini.</a:t>
            </a:r>
            <a:endParaRPr lang="en-US" sz="1150" dirty="0"/>
          </a:p>
        </p:txBody>
      </p:sp>
      <p:sp>
        <p:nvSpPr>
          <p:cNvPr id="38" name="Text 28"/>
          <p:cNvSpPr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exdoc/assets/icon_N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2377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Nexdoc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 &amp; Roadmap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Nexdoc's backend is feature-complete and packaged as a working Electron desktop application. The roadmap ahead is about optimization, not core functionality.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5272888" cy="3977640"/>
          </a:xfrm>
          <a:prstGeom prst="roundRect">
            <a:avLst>
              <a:gd name="adj" fmla="val 2069"/>
            </a:avLst>
          </a:prstGeom>
          <a:solidFill>
            <a:srgbClr val="131414"/>
          </a:solidFill>
          <a:ln w="12700">
            <a:solidFill>
              <a:srgbClr val="2327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331720"/>
            <a:ext cx="472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200" dirty="0"/>
          </a:p>
        </p:txBody>
      </p:sp>
      <p:pic>
        <p:nvPicPr>
          <p:cNvPr id="9" name="Image 1" descr="/home/claude/nexdoc/assets/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74320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2670048"/>
            <a:ext cx="440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D6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processing — PDF, OCR images, PPTX, TXT, XLS/XLSX</a:t>
            </a:r>
            <a:endParaRPr lang="en-US" sz="1030" dirty="0"/>
          </a:p>
        </p:txBody>
      </p:sp>
      <p:pic>
        <p:nvPicPr>
          <p:cNvPr id="11" name="Image 2" descr="/home/claude/nexdoc/assets/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6382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07008" y="3090672"/>
            <a:ext cx="440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D6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watching, queue-based &amp; multi-threaded processing</a:t>
            </a:r>
            <a:endParaRPr lang="en-US" sz="1030" dirty="0"/>
          </a:p>
        </p:txBody>
      </p:sp>
      <p:pic>
        <p:nvPicPr>
          <p:cNvPr id="13" name="Image 3" descr="/home/claude/nexdoc/assets/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84448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07008" y="3511296"/>
            <a:ext cx="440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D6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CPU-aware worker pool</a:t>
            </a:r>
            <a:endParaRPr lang="en-US" sz="1030" dirty="0"/>
          </a:p>
        </p:txBody>
      </p:sp>
      <p:pic>
        <p:nvPicPr>
          <p:cNvPr id="15" name="Image 4" descr="/home/claude/nexdoc/assets/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05072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3931920"/>
            <a:ext cx="440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D6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embedding generation + LanceDB vector storage</a:t>
            </a:r>
            <a:endParaRPr lang="en-US" sz="1030" dirty="0"/>
          </a:p>
        </p:txBody>
      </p:sp>
      <p:pic>
        <p:nvPicPr>
          <p:cNvPr id="17" name="Image 5" descr="/home/claude/nexdoc/assets/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25696"/>
            <a:ext cx="182880" cy="1828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207008" y="4352544"/>
            <a:ext cx="440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D6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with hybrid filtering &amp; ranking</a:t>
            </a:r>
            <a:endParaRPr lang="en-US" sz="1030" dirty="0"/>
          </a:p>
        </p:txBody>
      </p:sp>
      <p:pic>
        <p:nvPicPr>
          <p:cNvPr id="19" name="Image 6" descr="/home/claude/nexdoc/assets/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46320"/>
            <a:ext cx="182880" cy="18288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207008" y="4773168"/>
            <a:ext cx="440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D6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search mode and AI search mode</a:t>
            </a:r>
            <a:endParaRPr lang="en-US" sz="1030" dirty="0"/>
          </a:p>
        </p:txBody>
      </p:sp>
      <p:pic>
        <p:nvPicPr>
          <p:cNvPr id="21" name="Image 7" descr="/home/claude/nexdoc/assets/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266944"/>
            <a:ext cx="182880" cy="18288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207008" y="5193792"/>
            <a:ext cx="440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D6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layer + SQLite app storage</a:t>
            </a:r>
            <a:endParaRPr lang="en-US" sz="1030" dirty="0"/>
          </a:p>
        </p:txBody>
      </p:sp>
      <p:pic>
        <p:nvPicPr>
          <p:cNvPr id="23" name="Image 8" descr="/home/claude/nexdoc/assets/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687568"/>
            <a:ext cx="182880" cy="18288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1207008" y="5614416"/>
            <a:ext cx="440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D6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PyInstaller packaging + Electron desktop integration</a:t>
            </a:r>
            <a:endParaRPr lang="en-US" sz="1030" dirty="0"/>
          </a:p>
        </p:txBody>
      </p:sp>
      <p:sp>
        <p:nvSpPr>
          <p:cNvPr id="25" name="Shape 14"/>
          <p:cNvSpPr/>
          <p:nvPr/>
        </p:nvSpPr>
        <p:spPr>
          <a:xfrm>
            <a:off x="6278728" y="2103120"/>
            <a:ext cx="5272888" cy="3977640"/>
          </a:xfrm>
          <a:prstGeom prst="roundRect">
            <a:avLst>
              <a:gd name="adj" fmla="val 2069"/>
            </a:avLst>
          </a:prstGeom>
          <a:solidFill>
            <a:srgbClr val="0C1615"/>
          </a:solidFill>
          <a:ln w="12700">
            <a:solidFill>
              <a:srgbClr val="1B3330"/>
            </a:solidFill>
            <a:prstDash val="solid"/>
          </a:ln>
        </p:spPr>
      </p:sp>
      <p:sp>
        <p:nvSpPr>
          <p:cNvPr id="26" name="Text 15"/>
          <p:cNvSpPr/>
          <p:nvPr/>
        </p:nvSpPr>
        <p:spPr>
          <a:xfrm>
            <a:off x="6553048" y="2331720"/>
            <a:ext cx="472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27" name="Shape 16"/>
          <p:cNvSpPr/>
          <p:nvPr/>
        </p:nvSpPr>
        <p:spPr>
          <a:xfrm>
            <a:off x="6507328" y="2752344"/>
            <a:ext cx="457200" cy="457200"/>
          </a:xfrm>
          <a:prstGeom prst="ellipse">
            <a:avLst/>
          </a:prstGeom>
          <a:solidFill>
            <a:srgbClr val="10201E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28" name="Image 9" descr="/home/claude/nexdoc/assets/ic_z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1628" y="2866644"/>
            <a:ext cx="228600" cy="2286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7101688" y="2724912"/>
            <a:ext cx="417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ONNX-Based Inference</a:t>
            </a:r>
            <a:endParaRPr lang="en-US" sz="1150" dirty="0"/>
          </a:p>
        </p:txBody>
      </p:sp>
      <p:sp>
        <p:nvSpPr>
          <p:cNvPr id="30" name="Text 18"/>
          <p:cNvSpPr/>
          <p:nvPr/>
        </p:nvSpPr>
        <p:spPr>
          <a:xfrm>
            <a:off x="7101688" y="2999232"/>
            <a:ext cx="417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embedding model startup and lower runtime overhead.</a:t>
            </a:r>
            <a:endParaRPr lang="en-US" sz="930" dirty="0"/>
          </a:p>
        </p:txBody>
      </p:sp>
      <p:sp>
        <p:nvSpPr>
          <p:cNvPr id="31" name="Shape 19"/>
          <p:cNvSpPr/>
          <p:nvPr/>
        </p:nvSpPr>
        <p:spPr>
          <a:xfrm>
            <a:off x="6507328" y="3355848"/>
            <a:ext cx="457200" cy="457200"/>
          </a:xfrm>
          <a:prstGeom prst="ellipse">
            <a:avLst/>
          </a:prstGeom>
          <a:solidFill>
            <a:srgbClr val="10201E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32" name="Image 10" descr="/home/claude/nexdoc/assets/ic_cach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1628" y="3470148"/>
            <a:ext cx="228600" cy="22860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7101688" y="3328416"/>
            <a:ext cx="417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Result Caching</a:t>
            </a:r>
            <a:endParaRPr lang="en-US" sz="1150" dirty="0"/>
          </a:p>
        </p:txBody>
      </p:sp>
      <p:sp>
        <p:nvSpPr>
          <p:cNvPr id="34" name="Text 21"/>
          <p:cNvSpPr/>
          <p:nvPr/>
        </p:nvSpPr>
        <p:spPr>
          <a:xfrm>
            <a:off x="7101688" y="3602736"/>
            <a:ext cx="417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frequent queries to cut repeated retrieval latency.</a:t>
            </a:r>
            <a:endParaRPr lang="en-US" sz="930" dirty="0"/>
          </a:p>
        </p:txBody>
      </p:sp>
      <p:sp>
        <p:nvSpPr>
          <p:cNvPr id="35" name="Shape 22"/>
          <p:cNvSpPr/>
          <p:nvPr/>
        </p:nvSpPr>
        <p:spPr>
          <a:xfrm>
            <a:off x="6507328" y="3959352"/>
            <a:ext cx="457200" cy="457200"/>
          </a:xfrm>
          <a:prstGeom prst="ellipse">
            <a:avLst/>
          </a:prstGeom>
          <a:solidFill>
            <a:srgbClr val="10201E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36" name="Image 11" descr="/home/claude/nexdoc/assets/ic_ranking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1628" y="4073652"/>
            <a:ext cx="228600" cy="228600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7101688" y="3931920"/>
            <a:ext cx="417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Ranking &amp; Hybrid Retrieval</a:t>
            </a:r>
            <a:endParaRPr lang="en-US" sz="1150" dirty="0"/>
          </a:p>
        </p:txBody>
      </p:sp>
      <p:sp>
        <p:nvSpPr>
          <p:cNvPr id="38" name="Text 24"/>
          <p:cNvSpPr/>
          <p:nvPr/>
        </p:nvSpPr>
        <p:spPr>
          <a:xfrm>
            <a:off x="7101688" y="4206240"/>
            <a:ext cx="417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relevance tuning beyond current hybrid filtering.</a:t>
            </a:r>
            <a:endParaRPr lang="en-US" sz="930" dirty="0"/>
          </a:p>
        </p:txBody>
      </p:sp>
      <p:sp>
        <p:nvSpPr>
          <p:cNvPr id="39" name="Shape 25"/>
          <p:cNvSpPr/>
          <p:nvPr/>
        </p:nvSpPr>
        <p:spPr>
          <a:xfrm>
            <a:off x="6507328" y="4562856"/>
            <a:ext cx="457200" cy="457200"/>
          </a:xfrm>
          <a:prstGeom prst="ellipse">
            <a:avLst/>
          </a:prstGeom>
          <a:solidFill>
            <a:srgbClr val="10201E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40" name="Image 12" descr="/home/claude/nexdoc/assets/ic_moreforma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1628" y="4677156"/>
            <a:ext cx="228600" cy="228600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7101688" y="4535424"/>
            <a:ext cx="417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Document Formats</a:t>
            </a:r>
            <a:endParaRPr lang="en-US" sz="1150" dirty="0"/>
          </a:p>
        </p:txBody>
      </p:sp>
      <p:sp>
        <p:nvSpPr>
          <p:cNvPr id="42" name="Text 27"/>
          <p:cNvSpPr/>
          <p:nvPr/>
        </p:nvSpPr>
        <p:spPr>
          <a:xfrm>
            <a:off x="7101688" y="4809744"/>
            <a:ext cx="417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beyond PDF, PPTX, TXT, XLS and images.</a:t>
            </a:r>
            <a:endParaRPr lang="en-US" sz="930" dirty="0"/>
          </a:p>
        </p:txBody>
      </p:sp>
      <p:sp>
        <p:nvSpPr>
          <p:cNvPr id="43" name="Shape 28"/>
          <p:cNvSpPr/>
          <p:nvPr/>
        </p:nvSpPr>
        <p:spPr>
          <a:xfrm>
            <a:off x="6507328" y="5166360"/>
            <a:ext cx="457200" cy="457200"/>
          </a:xfrm>
          <a:prstGeom prst="ellipse">
            <a:avLst/>
          </a:prstGeom>
          <a:solidFill>
            <a:srgbClr val="10201E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44" name="Image 13" descr="/home/claude/nexdoc/assets/ic_worker_op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1628" y="5280660"/>
            <a:ext cx="228600" cy="228600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7101688" y="5138928"/>
            <a:ext cx="417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Worker-Pool Optimization</a:t>
            </a:r>
            <a:endParaRPr lang="en-US" sz="1150" dirty="0"/>
          </a:p>
        </p:txBody>
      </p:sp>
      <p:sp>
        <p:nvSpPr>
          <p:cNvPr id="46" name="Text 30"/>
          <p:cNvSpPr/>
          <p:nvPr/>
        </p:nvSpPr>
        <p:spPr>
          <a:xfrm>
            <a:off x="7101688" y="5413248"/>
            <a:ext cx="417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tuning of concurrency under heavier workloads.</a:t>
            </a:r>
            <a:endParaRPr lang="en-US" sz="930" dirty="0"/>
          </a:p>
        </p:txBody>
      </p:sp>
      <p:sp>
        <p:nvSpPr>
          <p:cNvPr id="47" name="Shape 31"/>
          <p:cNvSpPr/>
          <p:nvPr/>
        </p:nvSpPr>
        <p:spPr>
          <a:xfrm>
            <a:off x="6507328" y="5769864"/>
            <a:ext cx="457200" cy="457200"/>
          </a:xfrm>
          <a:prstGeom prst="ellipse">
            <a:avLst/>
          </a:prstGeom>
          <a:solidFill>
            <a:srgbClr val="10201E"/>
          </a:solidFill>
          <a:ln w="12700">
            <a:solidFill>
              <a:srgbClr val="232727"/>
            </a:solidFill>
            <a:prstDash val="solid"/>
          </a:ln>
        </p:spPr>
      </p:sp>
      <p:pic>
        <p:nvPicPr>
          <p:cNvPr id="48" name="Image 14" descr="/home/claude/nexdoc/assets/ic_observabilit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1628" y="5884164"/>
            <a:ext cx="228600" cy="228600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7101688" y="5742432"/>
            <a:ext cx="417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Observability</a:t>
            </a:r>
            <a:endParaRPr lang="en-US" sz="1150" dirty="0"/>
          </a:p>
        </p:txBody>
      </p:sp>
      <p:sp>
        <p:nvSpPr>
          <p:cNvPr id="50" name="Text 33"/>
          <p:cNvSpPr/>
          <p:nvPr/>
        </p:nvSpPr>
        <p:spPr>
          <a:xfrm>
            <a:off x="7101688" y="6016752"/>
            <a:ext cx="417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monitoring into processing &amp; search performance.</a:t>
            </a:r>
            <a:endParaRPr lang="en-US" sz="930" dirty="0"/>
          </a:p>
        </p:txBody>
      </p:sp>
      <p:sp>
        <p:nvSpPr>
          <p:cNvPr id="51" name="Text 34"/>
          <p:cNvSpPr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exdoc/assets/bg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-45720"/>
            <a:ext cx="12191695" cy="6858000"/>
          </a:xfrm>
          <a:prstGeom prst="rect">
            <a:avLst/>
          </a:prstGeom>
        </p:spPr>
      </p:pic>
      <p:pic>
        <p:nvPicPr>
          <p:cNvPr id="3" name="Image 1" descr="/home/claude/nexdoc/assets/icon_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648" y="2331720"/>
            <a:ext cx="914400" cy="914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3383280"/>
            <a:ext cx="12191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NEXDOC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0" y="4069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6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Your Documents. </a:t>
            </a:r>
            <a:r>
              <a:rPr lang="en-US" sz="1400" i="1" dirty="0" smtClean="0">
                <a:solidFill>
                  <a:srgbClr val="D6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Contextually</a:t>
            </a:r>
            <a:r>
              <a:rPr lang="en-US" sz="1400" i="1" dirty="0">
                <a:solidFill>
                  <a:srgbClr val="D6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smtClean="0">
                <a:solidFill>
                  <a:srgbClr val="D6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r>
              <a:rPr lang="en-US" sz="1400" i="1" dirty="0" smtClean="0">
                <a:solidFill>
                  <a:srgbClr val="D6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>
                <a:solidFill>
                  <a:srgbClr val="D6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547208" y="4617720"/>
            <a:ext cx="109728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0" y="475488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865</Words>
  <Application>Microsoft Office PowerPoint</Application>
  <PresentationFormat>Widescreen</PresentationFormat>
  <Paragraphs>154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ASUS</cp:lastModifiedBy>
  <cp:revision>2</cp:revision>
  <dcterms:created xsi:type="dcterms:W3CDTF">2026-08-17T22:07:09Z</dcterms:created>
  <dcterms:modified xsi:type="dcterms:W3CDTF">2026-08-17T22:17:31Z</dcterms:modified>
</cp:coreProperties>
</file>